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 / image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AFAFA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1-dev baseline</c:v>
                  </c:pt>
                  <c:pt idx="1">
                    <c:v>3-dev (loq VAE fb)</c:v>
                  </c:pt>
                  <c:pt idx="2">
                    <c:v>3-dev (Pi VAE)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380</c:v>
                </c:pt>
                <c:pt idx="1">
                  <c:v>1097</c:v>
                </c:pt>
                <c:pt idx="2">
                  <c:v>147615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AFAFA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2A30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1A1A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</c:scaling>
        <c:delete val="0"/>
        <c:axPos val="l"/>
        <c:majorGridlines>
          <c:spPr>
            <a:ln w="3175" cap="flat">
              <a:solidFill>
                <a:srgbClr val="2A2A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2A3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1A1AA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8181B"/>
        </a:solidFill>
        <a:ln>
          <a:noFill/>
        </a:ln>
        <a:effectLst/>
      </c:spPr>
    </c:plotArea>
    <c:plotVisOnly val="1"/>
    <c:dispBlanksAs val="span"/>
  </c:chart>
  <c:spPr>
    <a:solidFill>
      <a:srgbClr val="18181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peak RSS · MB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AFAFA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1A1A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1-dev baseline
(loq full pipeline)</c:v>
                  </c:pt>
                  <c:pt idx="1">
                    <c:v>3-dev swarm
loq UNet+VAE</c:v>
                  </c:pt>
                  <c:pt idx="2">
                    <c:v>3-dev swarm
pc CLIP</c:v>
                  </c:pt>
                  <c:pt idx="3">
                    <c:v>3-dev swarm
pi VAE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2358</c:v>
                </c:pt>
                <c:pt idx="1">
                  <c:v>2080</c:v>
                </c:pt>
                <c:pt idx="2">
                  <c:v>1398</c:v>
                </c:pt>
                <c:pt idx="3">
                  <c:v>1226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AFAFA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2A3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1A1A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2A2A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2A3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1A1AA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8181B"/>
        </a:solidFill>
        <a:ln>
          <a:noFill/>
        </a:ln>
        <a:effectLst/>
      </c:spPr>
    </c:plotArea>
    <c:plotVisOnly val="1"/>
    <c:dispBlanksAs val="span"/>
  </c:chart>
  <c:spPr>
    <a:solidFill>
      <a:srgbClr val="18181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img / min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AFAFA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3-dev (loq VAE)</c:v>
                  </c:pt>
                  <c:pt idx="1">
                    <c:v>3-dev (Pi VAE)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87.6</c:v>
                </c:pt>
                <c:pt idx="1">
                  <c:v>0.41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AFAFA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2A30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1A1A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</c:scaling>
        <c:delete val="0"/>
        <c:axPos val="l"/>
        <c:majorGridlines>
          <c:spPr>
            <a:ln w="3175" cap="flat">
              <a:solidFill>
                <a:srgbClr val="2A2A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2A3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1A1AA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8181B"/>
        </a:solidFill>
        <a:ln>
          <a:noFill/>
        </a:ln>
        <a:effectLst/>
      </c:spPr>
    </c:plotArea>
    <c:plotVisOnly val="1"/>
    <c:dispBlanksAs val="span"/>
  </c:chart>
  <c:spPr>
    <a:solidFill>
      <a:srgbClr val="18181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 589  ·  EDGE COMPUTING  ·  SPRING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0" b="1" spc="-200" kern="0" dirty="0">
                <a:solidFill>
                  <a:srgbClr val="FA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Stable Diffusion,
</a:t>
            </a:r>
            <a:pPr indent="0" marL="0">
              <a:buNone/>
            </a:pPr>
            <a:r>
              <a:rPr lang="en-US" sz="8600" b="1" spc="-200" kern="0" dirty="0">
                <a:solidFill>
                  <a:srgbClr val="FA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across </a:t>
            </a:r>
            <a:pPr indent="0" marL="0">
              <a:buNone/>
            </a:pPr>
            <a:r>
              <a:rPr lang="en-US" sz="8600" b="1" i="1" spc="-200" kern="0" dirty="0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edges.</a:t>
            </a:r>
            <a:endParaRPr lang="en-US" sz="8600" dirty="0"/>
          </a:p>
        </p:txBody>
      </p:sp>
      <p:sp>
        <p:nvSpPr>
          <p:cNvPr id="4" name="Text 2"/>
          <p:cNvSpPr/>
          <p:nvPr/>
        </p:nvSpPr>
        <p:spPr>
          <a:xfrm>
            <a:off x="640080" y="4572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SD-Turbo, partitioned across three heterogeneous edge devices. The Pi cannot fit the full pipeline alone. The swarm makes it a participant.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Sudarshan Sridhar  ·  Varun Patel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github.com/sudarshan-sridhar/swarmgen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277295" y="64008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SWARMGEN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2A2A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FA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Pi can't run SD-Turbo.</a:t>
            </a:r>
            <a:endParaRPr lang="en-US" sz="4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FA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full pipeline doesn't fit.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18181B"/>
          </a:solidFill>
          <a:ln w="6350">
            <a:solidFill>
              <a:srgbClr val="2A2A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858768"/>
            <a:ext cx="32004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spc="-200" kern="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2358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68680" y="48097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PEAK · MB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51297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SD-Turbo needs end-to-end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365760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18181B"/>
          </a:solidFill>
          <a:ln w="6350">
            <a:solidFill>
              <a:srgbClr val="2A2A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858768"/>
            <a:ext cx="32004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spc="-200" kern="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1845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663440" y="48097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PHYSICAL · MB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51297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Raspberry Pi 4B total RAM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365760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18181B"/>
          </a:solidFill>
          <a:ln w="6350">
            <a:solidFill>
              <a:srgbClr val="2A2A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3858768"/>
            <a:ext cx="28346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spc="-2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−513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458200" y="48097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SHORTFALL · MB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58200" y="51297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Pi never gets there alone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2834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Diffusion models hover just outside the envelope of small edge devices. You can't swap your way out. It's a hard ceiling.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SWARMGEN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2A2A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solution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FA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Split it across three devices.</a:t>
            </a:r>
            <a:endParaRPr lang="en-US" sz="4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FA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Each one holds only what it can run.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18181B"/>
          </a:solidFill>
          <a:ln w="6350">
            <a:solidFill>
              <a:srgbClr val="2A2A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977640"/>
            <a:ext cx="146304" cy="146304"/>
          </a:xfrm>
          <a:prstGeom prst="ellipse">
            <a:avLst/>
          </a:prstGeom>
          <a:solidFill>
            <a:srgbClr val="A1A1AA"/>
          </a:solidFill>
          <a:ln w="12700">
            <a:solidFill>
              <a:srgbClr val="A1A1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886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FA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CLIP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14400" y="4663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 · CPU laptop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120M params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365760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18181B"/>
          </a:solidFill>
          <a:ln w="6350">
            <a:solidFill>
              <a:srgbClr val="2A2A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397764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3886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FA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UNET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09160" y="4663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loq · RTX 5060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865M params · 4 steps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0" y="365760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18181B"/>
          </a:solidFill>
          <a:ln w="6350">
            <a:solidFill>
              <a:srgbClr val="2A2A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0" y="3977640"/>
            <a:ext cx="146304" cy="146304"/>
          </a:xfrm>
          <a:prstGeom prst="ellipse">
            <a:avLst/>
          </a:prstGeom>
          <a:solidFill>
            <a:srgbClr val="A1A1AA"/>
          </a:solidFill>
          <a:ln w="12700">
            <a:solidFill>
              <a:srgbClr val="A1A1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3886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FA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VAE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503920" y="4663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· Pi 4B (1.8 GB)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0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80M params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059936" y="4736592"/>
            <a:ext cx="310896" cy="219456"/>
          </a:xfrm>
          <a:prstGeom prst="rightArrow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54696" y="4736592"/>
            <a:ext cx="310896" cy="219456"/>
          </a:xfrm>
          <a:prstGeom prst="rightArrow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Putting UNet on the GPU isn't a cheat. The claim is per-device memory reduction, not GPU offload.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SWARMGEN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2A2A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FA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Coordinator on loq, async HTTP, mDNS discovery.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029200" y="310896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0A0A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COORDINATOR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loq · async + httpx + zeroconf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493776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18181B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120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A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WORKER · CLIP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577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 · 192.168.1.39:8001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20440" y="5230368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493776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18181B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5120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A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WORKER · UNET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26280" y="5577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loq · 192.168.1.16:8002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78040" y="5230368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493776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18181B"/>
          </a:solidFill>
          <a:ln w="9525">
            <a:solidFill>
              <a:srgbClr val="2A2A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5120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A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WORKER · VAE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83880" y="5577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· 192.168.1.185:8003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835640" y="5230368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3977640"/>
            <a:ext cx="-4114800" cy="960120"/>
          </a:xfrm>
          <a:prstGeom prst="line">
            <a:avLst/>
          </a:prstGeom>
          <a:noFill/>
          <a:ln w="12700">
            <a:solidFill>
              <a:srgbClr val="2A2A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3977640"/>
            <a:ext cx="-457200" cy="960120"/>
          </a:xfrm>
          <a:prstGeom prst="line">
            <a:avLst/>
          </a:prstGeom>
          <a:noFill/>
          <a:ln w="12700">
            <a:solidFill>
              <a:srgbClr val="2A2A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3977640"/>
            <a:ext cx="3200400" cy="960120"/>
          </a:xfrm>
          <a:prstGeom prst="line">
            <a:avLst/>
          </a:prstGeom>
          <a:noFill/>
          <a:ln w="12700">
            <a:solidFill>
              <a:srgbClr val="2A2A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6400800"/>
            <a:ext cx="10972800" cy="384048"/>
          </a:xfrm>
          <a:prstGeom prst="roundRect">
            <a:avLst>
              <a:gd name="adj" fmla="val 14286"/>
            </a:avLst>
          </a:prstGeom>
          <a:solidFill>
            <a:srgbClr val="18181B"/>
          </a:solidFill>
          <a:ln w="6350">
            <a:solidFill>
              <a:srgbClr val="2A2A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6437376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FALLBACK   </a:t>
            </a:r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loq also loads VAE on the GPU (165 MB VRAM). When pi dies, retry routes here in ~250 ms.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SWARMGEN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2A2A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devices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FA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Locked specs. No emulation, real hardware.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18181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91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A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loq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UNet (+VAE fb)  ·  port 8002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4297680"/>
            <a:ext cx="3108960" cy="0"/>
          </a:xfrm>
          <a:prstGeom prst="line">
            <a:avLst/>
          </a:prstGeom>
          <a:noFill/>
          <a:ln w="6350">
            <a:solidFill>
              <a:srgbClr val="2A2A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4805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37360" y="4480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192.168.1.16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7731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37360" y="47731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logical cores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0657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37360" y="50657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GB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53583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37360" y="53583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RTX 5060 · 8 GB VRAM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56509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37360" y="56509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2.12.0+cu128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5943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37360" y="5943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 11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80560" y="310896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18181B"/>
          </a:solidFill>
          <a:ln w="6350">
            <a:solidFill>
              <a:srgbClr val="2A2A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291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A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pc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4754880" y="3886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CLIP  ·  port 8001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4297680"/>
            <a:ext cx="3108960" cy="0"/>
          </a:xfrm>
          <a:prstGeom prst="line">
            <a:avLst/>
          </a:prstGeom>
          <a:noFill/>
          <a:ln w="6350">
            <a:solidFill>
              <a:srgbClr val="2A2A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44805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77840" y="4480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192.168.1.39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47731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47731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Intel i5-1035G1 · 4c/8t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50657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77840" y="50657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GB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53583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77840" y="53583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Intel UHD (no CUDA)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56509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77840" y="56509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2.4.1+cpu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5943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77840" y="5943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 11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321040" y="310896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18181B"/>
          </a:solidFill>
          <a:ln w="6350">
            <a:solidFill>
              <a:srgbClr val="2A2A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95360" y="3291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A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</a:t>
            </a:r>
            <a:endParaRPr lang="en-US" sz="3600" dirty="0"/>
          </a:p>
        </p:txBody>
      </p:sp>
      <p:sp>
        <p:nvSpPr>
          <p:cNvPr id="41" name="Text 39"/>
          <p:cNvSpPr/>
          <p:nvPr/>
        </p:nvSpPr>
        <p:spPr>
          <a:xfrm>
            <a:off x="8595360" y="3886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VAE  ·  port 8003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595360" y="4297680"/>
            <a:ext cx="3108960" cy="0"/>
          </a:xfrm>
          <a:prstGeom prst="line">
            <a:avLst/>
          </a:prstGeom>
          <a:noFill/>
          <a:ln w="6350">
            <a:solidFill>
              <a:srgbClr val="2A2A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95360" y="44805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418320" y="4480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192.168.1.185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595360" y="47731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418320" y="47731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 Cortex-A72 · 4c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595360" y="50657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418320" y="50657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1.8 GB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595360" y="53583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418320" y="53583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595360" y="56509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418320" y="56509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2.9.1+cpu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595360" y="5943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418320" y="5943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Debian 13 (trixie)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SWARMGEN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2A2A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latency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FA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don't beat a single GPU. We said we wouldn't.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7315200" cy="3657600"/>
          </a:xfrm>
          <a:prstGeom prst="roundRect">
            <a:avLst>
              <a:gd name="adj" fmla="val 2000"/>
            </a:avLst>
          </a:prstGeom>
          <a:solidFill>
            <a:srgbClr val="18181B"/>
          </a:solidFill>
          <a:ln w="6350">
            <a:solidFill>
              <a:srgbClr val="2A2A30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777240" y="3063240"/>
          <a:ext cx="70408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229600" y="2926080"/>
            <a:ext cx="3291840" cy="1691640"/>
          </a:xfrm>
          <a:prstGeom prst="roundRect">
            <a:avLst>
              <a:gd name="adj" fmla="val 4324"/>
            </a:avLst>
          </a:prstGeom>
          <a:solidFill>
            <a:srgbClr val="18181B"/>
          </a:solidFill>
          <a:ln w="6350">
            <a:solidFill>
              <a:srgbClr val="2A2A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58200" y="3127248"/>
            <a:ext cx="283464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spc="-200" kern="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380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8458200" y="390220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 · BASELINE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458200" y="422224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single-device on RTX 5060 fp16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29600" y="4800600"/>
            <a:ext cx="3291840" cy="1691640"/>
          </a:xfrm>
          <a:prstGeom prst="roundRect">
            <a:avLst>
              <a:gd name="adj" fmla="val 4324"/>
            </a:avLst>
          </a:prstGeom>
          <a:solidFill>
            <a:srgbClr val="18181B"/>
          </a:solidFill>
          <a:ln w="6350">
            <a:solidFill>
              <a:srgbClr val="2A2A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58200" y="5001768"/>
            <a:ext cx="283464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spc="-2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147 615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8458200" y="577672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 · WITH PI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458200" y="609676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 VAE dominates the pipeline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SWARMGEN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2A2A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memory · the headline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FA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 1226 MB. Pipeline 2358 MB.</a:t>
            </a:r>
            <a:endParaRPr lang="en-US" sz="4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FA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swarm makes the impossible run.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72800" cy="3383280"/>
          </a:xfrm>
          <a:prstGeom prst="roundRect">
            <a:avLst>
              <a:gd name="adj" fmla="val 2162"/>
            </a:avLst>
          </a:prstGeom>
          <a:solidFill>
            <a:srgbClr val="18181B"/>
          </a:solidFill>
          <a:ln w="6350">
            <a:solidFill>
              <a:srgbClr val="2A2A30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777240" y="2880360"/>
          <a:ext cx="106984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6263640"/>
            <a:ext cx="10972800" cy="457200"/>
          </a:xfrm>
          <a:prstGeom prst="roundRect">
            <a:avLst>
              <a:gd name="adj" fmla="val 12000"/>
            </a:avLst>
          </a:prstGeom>
          <a:solidFill>
            <a:srgbClr val="1A0F0F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3093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CEILING   </a:t>
            </a:r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1845 MB physical RAM. The 2358 MB pipeline does not fit. The 1226 MB VAE-only does.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SWARMGEN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2A2A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fault tolerance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FA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Kill the Pi mid-flight. Image still completes.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10972800" cy="146304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6350">
            <a:solidFill>
              <a:srgbClr val="2A2A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611880"/>
            <a:ext cx="6788724" cy="457200"/>
          </a:xfrm>
          <a:prstGeom prst="rect">
            <a:avLst/>
          </a:prstGeom>
          <a:solidFill>
            <a:srgbClr val="A1A1AA"/>
          </a:solidFill>
          <a:ln w="6350">
            <a:solidFill>
              <a:srgbClr val="0A0A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611880"/>
            <a:ext cx="6788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A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3563 ms · pc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565964" y="3611880"/>
            <a:ext cx="3414368" cy="457200"/>
          </a:xfrm>
          <a:prstGeom prst="rect">
            <a:avLst/>
          </a:prstGeom>
          <a:solidFill>
            <a:srgbClr val="3B82F6"/>
          </a:solidFill>
          <a:ln w="6350">
            <a:solidFill>
              <a:srgbClr val="0A0A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65964" y="3611880"/>
            <a:ext cx="341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A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1792 ms · loq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980332" y="3611880"/>
            <a:ext cx="476335" cy="457200"/>
          </a:xfrm>
          <a:prstGeom prst="rect">
            <a:avLst/>
          </a:prstGeom>
          <a:solidFill>
            <a:srgbClr val="10B981"/>
          </a:solidFill>
          <a:ln w="6350">
            <a:solidFill>
              <a:srgbClr val="0A0A0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82579" y="3291840"/>
            <a:ext cx="0" cy="1097280"/>
          </a:xfrm>
          <a:prstGeom prst="line">
            <a:avLst/>
          </a:prstGeom>
          <a:noFill/>
          <a:ln w="19050">
            <a:solidFill>
              <a:srgbClr val="EF4444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1493859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Pi at t = 1000 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93776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18181B"/>
          </a:solidFill>
          <a:ln w="6350">
            <a:solidFill>
              <a:srgbClr val="2A2A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138928"/>
            <a:ext cx="306324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spc="-2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5.6 s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68680" y="583844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TIME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615848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fault recovery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493776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18181B"/>
          </a:solidFill>
          <a:ln w="6350">
            <a:solidFill>
              <a:srgbClr val="2A2A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5138928"/>
            <a:ext cx="306324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spc="-200" kern="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 ms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4526280" y="583844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VAE ON LOQ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26280" y="615848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fp16 GPU fallback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55280" y="4937760"/>
            <a:ext cx="3657600" cy="1554480"/>
          </a:xfrm>
          <a:prstGeom prst="roundRect">
            <a:avLst>
              <a:gd name="adj" fmla="val 4706"/>
            </a:avLst>
          </a:prstGeom>
          <a:solidFill>
            <a:srgbClr val="18181B"/>
          </a:solidFill>
          <a:ln w="6350">
            <a:solidFill>
              <a:srgbClr val="2A2A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5138928"/>
            <a:ext cx="320040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spc="-200" kern="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147 s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8183880" y="58384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WITHOUT FALLBACK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183880" y="61584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 VAE alone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SWARMGEN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2A2A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batch · pipeline parallelism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FA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parallelism only helps when stages are balanced.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6858000" cy="3657600"/>
          </a:xfrm>
          <a:prstGeom prst="roundRect">
            <a:avLst>
              <a:gd name="adj" fmla="val 2000"/>
            </a:avLst>
          </a:prstGeom>
          <a:solidFill>
            <a:srgbClr val="18181B"/>
          </a:solidFill>
          <a:ln w="6350">
            <a:solidFill>
              <a:srgbClr val="2A2A30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777240" y="2880360"/>
          <a:ext cx="65836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7772400" y="3108960"/>
            <a:ext cx="3840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Steady-state throughput is bounded by the slowest stage.
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VAE: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140 s
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spc="2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Loq VAE: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0.16 s
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parallelism cannot save you when one stage is 850× slower.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SWARMGEN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2A2A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ui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FA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demo. One HTML file, no build step.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10972800" cy="4297680"/>
          </a:xfrm>
          <a:prstGeom prst="roundRect">
            <a:avLst>
              <a:gd name="adj" fmla="val 2128"/>
            </a:avLst>
          </a:prstGeom>
          <a:solidFill>
            <a:srgbClr val="0A0A0C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377440"/>
            <a:ext cx="137160" cy="1371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377440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25296" y="2377440"/>
            <a:ext cx="137160" cy="137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234086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localhost:7860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292608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FA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Stable diffusion, across edges.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005840" y="3749040"/>
            <a:ext cx="4206240" cy="2377440"/>
          </a:xfrm>
          <a:prstGeom prst="roundRect">
            <a:avLst>
              <a:gd name="adj" fmla="val 3077"/>
            </a:avLst>
          </a:prstGeom>
          <a:solidFill>
            <a:srgbClr val="18181B"/>
          </a:solidFill>
          <a:ln w="6350">
            <a:solidFill>
              <a:srgbClr val="2A2A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886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CONTROL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" y="42519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watercolor painting of a lighthouse at dusk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43000" y="50292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5074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834640" y="502920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22222A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5074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kill Pi VAE worker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94960" y="3749040"/>
            <a:ext cx="5852160" cy="2377440"/>
          </a:xfrm>
          <a:prstGeom prst="roundRect">
            <a:avLst>
              <a:gd name="adj" fmla="val 3077"/>
            </a:avLst>
          </a:prstGeom>
          <a:solidFill>
            <a:srgbClr val="18181B"/>
          </a:solidFill>
          <a:ln w="6350">
            <a:solidFill>
              <a:srgbClr val="2A2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38862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OUTPUT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94960" y="420624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generated image 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58978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ALIVE   alive   alive       ·       loq   pc   pi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Bricolage Grotesque + JetBrains Mono. Tailwind from CDN. Vanilla JS. Polls /api/workers every 2 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SWARMGEN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2A2A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implementation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FA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About 1500 lines of Python + a single HTML file.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6350">
            <a:solidFill>
              <a:srgbClr val="2A2A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154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spc="-2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377440" y="3273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352044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worker.py · coordinator.py · api.py · protocol.py · index.html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6350">
            <a:solidFill>
              <a:srgbClr val="2A2A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023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spc="-2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377440" y="4142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438912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Python · same code runs on Linux ARM, Windows CPU, Windows CUDA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84632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6350">
            <a:solidFill>
              <a:srgbClr val="2A2A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892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spc="-2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377440" y="5010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77440" y="525780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Docker · no Ray · no Kubernetes · plain venvs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71500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6350">
            <a:solidFill>
              <a:srgbClr val="2A2A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760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spc="-2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2377440" y="5879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ENDPOINTS / WORKER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77440" y="612648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/health · /heartbeat · /run_stage · plus /admin/die for fault tests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Vanilla Python, FastAPI, asyncio, zeroconf, httpx. Threadpool inference so the event loop stays free.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SWARMGEN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7295" cy="0"/>
          </a:xfrm>
          <a:prstGeom prst="line">
            <a:avLst/>
          </a:prstGeom>
          <a:noFill/>
          <a:ln w="6350">
            <a:solidFill>
              <a:srgbClr val="2A2A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FA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Heterogeneous swarms enable, they don't accelerate.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3182112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0175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FA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Memory partitioning works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 peaks at 1226 MB during VAE decode, comfortably under its 1.8 GB ceiling. Single-device peak is 2358 MB and would not fit.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233672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0690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FA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Fault recovery is fast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45262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Heartbeat + transport-level retry routes the failed stage to a fallback in about 250 ms. Image still completes.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285232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1206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FAFA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Throughput is gated by the slowest stage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55778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parallelism doesn't deliver linear speedup when one stage is 850× slower than the others. Honest finding.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621792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18181B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6263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  </a:t>
            </a:r>
            <a:pPr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github.com/sudarshan-sridhar/swarmgen</a:t>
            </a:r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PAPER   </a:t>
            </a:r>
            <a:pPr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paper/paper.tex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SwarmGen</dc:title>
  <dc:subject>PptxGenJS Presentation</dc:subject>
  <dc:creator>Sudarshan Sridhar</dc:creator>
  <cp:lastModifiedBy>Sudarshan Sridhar</cp:lastModifiedBy>
  <cp:revision>1</cp:revision>
  <dcterms:created xsi:type="dcterms:W3CDTF">2026-04-28T22:26:12Z</dcterms:created>
  <dcterms:modified xsi:type="dcterms:W3CDTF">2026-04-28T22:26:12Z</dcterms:modified>
</cp:coreProperties>
</file>